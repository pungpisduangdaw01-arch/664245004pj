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แนะนำตัวและชื่อโปรเจกต์: ระบบแนะนำผลไม้ที่ใช้ฐานข้อมูลกราฟ Neo4j Aura และทำหน้าเว็บด้วย Streamlit ต่อยอดจากการบ้านงานที่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อธิบายแนวคิดด้วยตัวอย่างในชีวิตจริง: เรามักเชื่อคำแนะนำจากคนที่รสนิยมคล้ายเรา ระบบทำ 3 ขั้นตอนนี้ให้อัตโนมัติ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ข้อมูลมีจุด 2 แบบ คือ User และ Fruit และเส้น 2 แบบ คือ LIKES กับ SIMILAR_TO ในตัวอย่าง Ananda และ Boonchit ชอบ Mango เหมือนกัน จึงมีเส้น SIMILAR_TO เชื่อมกัน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ข้อมูลชุดเดียวกับ notebook งานที่ 3: ผู้ใช้ 10 คน ผลไม้ 5 ชนิด มีเส้น LIKES 21 เส้น ระบบสร้าง SIMILAR_TO ได้ 32 คู่ Mango เป็นผลไม้ที่มีคนชอบมากที่สุด 6 คน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 4 ขั้นตอนของการแนะนำ และสูตรคะแนน: ยิ่งมีคนที่คล้ายกับเราชอบผลไม้ชนิดนั้นมาก คะแนนยิ่งสูง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ตัวอย่างจริงจากระบบ: Ananda ชอบ Mango และ Apple ระบบแนะนำ Banana และ Durian คะแนน 3 และ Grape คะแนน 1 พร้อมบอกว่าใครชอบผลไม้นั้น ผลตรงกับ notebook งานที่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คำสั่ง Cypher แบบย่อของฟังก์ชัน recommend_fruits ใน neo4j_service.py สีของโค้ดตรงกับคำอธิบายทางขวา: MATCH คือการเดินกราฟ, WHERE NOT คือการตัดของที่ชอบอยู่แล้ว, count กับ ORDER BY คือการให้คะแนนและเรียงลำดับ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ผู้ใช้เปิดเว็บ Streamlit ซึ่งเรียกฟังก์ชันใน neo4j_service.py ไปคุยกับ Neo4j Aura ด้วย Cypher การแยกชั้นแบบนี้ทำให้หน้าจอไม่ต้องเขียน query เอง แอป deploy ผ่าน GitHub และเก็บรหัสผ่านใน Secrets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ระบบมี 7 เมนู และหน้าหลักที่รวมการบ้านทั้ง 3 งาน ถ้ามีเวลาให้สาธิตหน้าแนะนำผลไม้และหน้าความสัมพันธ์จากแอปจริง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ทุกส่วนของข้อมูลจัดการได้จากหน้าเว็บ ตารางนี้บอกว่าแต่ละการกระทำใช้คำสั่ง Cypher อะไร จุดที่ควรเน้นคือ DETACH DELETE ลบเส้นที่ติดอยู่ด้วย และการเปลี่ยนชื่อไม่ทำให้ความสัมพันธ์หาย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 3 ข้อ และแนวทางต่อยอด จากนั้นเปิดรับคำถาม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2514600" cy="3474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8686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โปรเจกต์วิชา Graph Database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ระบบแนะนำผลไม้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D8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แนะนำผลไม้จากคนที่ชอบคล้ายกัน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D8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ด้วย Neo4j Aura + Streamlit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ชิษณุพงศ์ เกตุพูนทอง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24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D8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รหัสนักศึกษา 664245004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15000" y="868680"/>
            <a:ext cx="2194560" cy="2194560"/>
          </a:xfrm>
          <a:prstGeom prst="ellipse">
            <a:avLst/>
          </a:prstGeom>
          <a:solidFill>
            <a:srgbClr val="FFC233"/>
          </a:solidFill>
          <a:ln w="12700">
            <a:solidFill>
              <a:srgbClr val="FFC23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914400"/>
            <a:ext cx="2103120" cy="21031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635240" y="457200"/>
            <a:ext cx="1188720" cy="1188720"/>
          </a:xfrm>
          <a:prstGeom prst="ellipse">
            <a:avLst/>
          </a:prstGeom>
          <a:solidFill>
            <a:srgbClr val="FFC233"/>
          </a:solidFill>
          <a:ln w="12700">
            <a:solidFill>
              <a:srgbClr val="FFC2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502920"/>
            <a:ext cx="1097280" cy="10972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680960" y="2194560"/>
            <a:ext cx="1188720" cy="1188720"/>
          </a:xfrm>
          <a:prstGeom prst="ellipse">
            <a:avLst/>
          </a:prstGeom>
          <a:solidFill>
            <a:srgbClr val="FFC233"/>
          </a:solidFill>
          <a:ln w="12700">
            <a:solidFill>
              <a:srgbClr val="FFC23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2240280"/>
            <a:ext cx="1097280" cy="109728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394960" y="3108960"/>
            <a:ext cx="1417320" cy="1417320"/>
          </a:xfrm>
          <a:prstGeom prst="ellipse">
            <a:avLst/>
          </a:prstGeom>
          <a:solidFill>
            <a:srgbClr val="FFC233"/>
          </a:solidFill>
          <a:ln w="12700">
            <a:solidFill>
              <a:srgbClr val="FFC233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3154680"/>
            <a:ext cx="1325880" cy="132588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040880" y="3246120"/>
            <a:ext cx="1417320" cy="1417320"/>
          </a:xfrm>
          <a:prstGeom prst="ellipse">
            <a:avLst/>
          </a:prstGeom>
          <a:solidFill>
            <a:srgbClr val="FFC233"/>
          </a:solidFill>
          <a:ln w="12700">
            <a:solidFill>
              <a:srgbClr val="FFC233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3291840"/>
            <a:ext cx="132588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แนวคิด: ถามคนที่ชอบเหมือนเรา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749040" cy="3383280"/>
          </a:xfrm>
          <a:prstGeom prst="roundRect">
            <a:avLst>
              <a:gd name="adj" fmla="val 3784"/>
            </a:avLst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FFC233"/>
          </a:solidFill>
          <a:ln w="12700">
            <a:solidFill>
              <a:srgbClr val="FFC2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3" y="1611173"/>
            <a:ext cx="252374" cy="2523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1945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ถ้าเพื่อนที่ชอบมะม่วงเหมือนเรา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ชอบทุเรียนด้วย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เราก็น่าจะชอบทุเรียน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5204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ระบบนี้ทำแบบเดียวกัน โดยใช้ข้อมูลความชอบ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ของผู้ใช้ทุกคนที่เก็บไว้ในฐานข้อมูลกราฟ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0" y="1280160"/>
            <a:ext cx="640080" cy="64008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822" y="1452982"/>
            <a:ext cx="294437" cy="29443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94960" y="12618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ดูว่าเราชอบอะไร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5394960" y="1645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ผู้ใช้แต่ละคนบอกผลไม้ที่ตัวเองชอบ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0" y="2423160"/>
            <a:ext cx="640080" cy="640080"/>
          </a:xfrm>
          <a:prstGeom prst="ellipse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822" y="2595982"/>
            <a:ext cx="294437" cy="29443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94960" y="24048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หาคนที่ชอบเหมือนเรา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5394960" y="2788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คนที่ชอบผลไม้ชนิดเดียวกันถือว่าคล้ายกัน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0" y="3566160"/>
            <a:ext cx="640080" cy="64008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822" y="3738982"/>
            <a:ext cx="294437" cy="29443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94960" y="35478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แนะนำสิ่งที่เขาชอบ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5394960" y="3931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ผลไม้ที่คนคล้ายกันชอบ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แต่เรายังไม่ได้เลือก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7772400" y="4709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เก็บข้อมูลเป็นกราฟ: จุดและเส้น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0" cy="3429000"/>
          </a:xfrm>
          <a:prstGeom prst="roundRect">
            <a:avLst>
              <a:gd name="adj" fmla="val 3733"/>
            </a:avLst>
          </a:prstGeom>
          <a:solidFill>
            <a:srgbClr val="FFF8EE"/>
          </a:solidFill>
          <a:ln w="12700">
            <a:solidFill>
              <a:srgbClr val="FFF8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2011680"/>
            <a:ext cx="1691640" cy="685800"/>
          </a:xfrm>
          <a:prstGeom prst="line">
            <a:avLst/>
          </a:prstGeom>
          <a:noFill/>
          <a:ln w="28575">
            <a:solidFill>
              <a:srgbClr val="D6336C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V="1">
            <a:off x="1828800" y="3154680"/>
            <a:ext cx="1691640" cy="685800"/>
          </a:xfrm>
          <a:prstGeom prst="line">
            <a:avLst/>
          </a:prstGeom>
          <a:noFill/>
          <a:ln w="28575">
            <a:solidFill>
              <a:srgbClr val="D6336C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280160" y="2514600"/>
            <a:ext cx="0" cy="685800"/>
          </a:xfrm>
          <a:prstGeom prst="line">
            <a:avLst/>
          </a:prstGeom>
          <a:noFill/>
          <a:ln w="28575">
            <a:solidFill>
              <a:srgbClr val="7048E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31520" y="1417320"/>
            <a:ext cx="1097280" cy="1097280"/>
          </a:xfrm>
          <a:prstGeom prst="ellipse">
            <a:avLst/>
          </a:prstGeom>
          <a:solidFill>
            <a:srgbClr val="FFC233"/>
          </a:solidFill>
          <a:ln w="12700">
            <a:solidFill>
              <a:srgbClr val="FFC2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Ananda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9933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1097280" cy="1097280"/>
          </a:xfrm>
          <a:prstGeom prst="ellipse">
            <a:avLst/>
          </a:prstGeom>
          <a:solidFill>
            <a:srgbClr val="FFC233"/>
          </a:solidFill>
          <a:ln w="12700">
            <a:solidFill>
              <a:srgbClr val="FFC2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5021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Boonchit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7764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20440" y="2286000"/>
            <a:ext cx="1280160" cy="128016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331720"/>
            <a:ext cx="1188720" cy="11887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3291840" y="36393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Mango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291840" y="39136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Fruit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2331720" y="2011680"/>
            <a:ext cx="6858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336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LIKES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331720" y="3611880"/>
            <a:ext cx="6858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336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LIKES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2724912"/>
            <a:ext cx="105156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048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SIMILAR_TO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39496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 (Node)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394960" y="1709928"/>
            <a:ext cx="237744" cy="237744"/>
          </a:xfrm>
          <a:prstGeom prst="ellipse">
            <a:avLst/>
          </a:prstGeom>
          <a:solidFill>
            <a:srgbClr val="FFC233"/>
          </a:solidFill>
          <a:ln w="12700">
            <a:solidFill>
              <a:srgbClr val="FFC23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760720" y="16642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 </a:t>
            </a:r>
            <a:pPr indent="0" marL="0">
              <a:buNone/>
            </a:pPr>
            <a:r>
              <a:rPr lang="en-US" sz="130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 มีชื่อเป็นคีย์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394960" y="2148840"/>
            <a:ext cx="237744" cy="23774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760720" y="210312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Fruit </a:t>
            </a:r>
            <a:pPr indent="0" marL="0">
              <a:buNone/>
            </a:pPr>
            <a:r>
              <a:rPr lang="en-US" sz="130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ผลไม้ มีชื่อและรูป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39496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 (Relationship)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394960" y="31546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336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LIKES </a:t>
            </a:r>
            <a:pPr indent="0" marL="0">
              <a:buNone/>
            </a:pPr>
            <a:r>
              <a:rPr lang="en-US" sz="130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ผู้ใช้ชอบผลไม้นั้น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394960" y="3611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048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SIMILAR_TO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ผู้ใช้สองคนชอบผลไม้ชนิดเดียวกัน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อย่างน้อย 1 ชนิด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7772400" y="4709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ข้อมูลตัวอย่างในระบบ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28800" cy="1554480"/>
          </a:xfrm>
          <a:prstGeom prst="roundRect">
            <a:avLst>
              <a:gd name="adj" fmla="val 8235"/>
            </a:avLst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59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68880" y="1188720"/>
            <a:ext cx="1828800" cy="1554480"/>
          </a:xfrm>
          <a:prstGeom prst="roundRect">
            <a:avLst>
              <a:gd name="adj" fmla="val 8235"/>
            </a:avLst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68880" y="13716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9E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ผลไม้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1828800" cy="1554480"/>
          </a:xfrm>
          <a:prstGeom prst="roundRect">
            <a:avLst>
              <a:gd name="adj" fmla="val 8235"/>
            </a:avLst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1089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6336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 LIKES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68880" y="2926080"/>
            <a:ext cx="1828800" cy="1554480"/>
          </a:xfrm>
          <a:prstGeom prst="roundRect">
            <a:avLst>
              <a:gd name="adj" fmla="val 8235"/>
            </a:avLst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68880" y="31089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048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32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 SIMILAR_TO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1188720"/>
            <a:ext cx="4114800" cy="3291840"/>
          </a:xfrm>
          <a:prstGeom prst="roundRect">
            <a:avLst>
              <a:gd name="adj" fmla="val 3889"/>
            </a:avLst>
          </a:prstGeom>
          <a:solidFill>
            <a:srgbClr val="FFF8EE"/>
          </a:solidFill>
          <a:ln w="12700">
            <a:solidFill>
              <a:srgbClr val="FFF8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12984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จำนวนคนที่ชอบผลไม้แต่ละชนิด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92040" y="2039112"/>
            <a:ext cx="457200" cy="1481328"/>
          </a:xfrm>
          <a:prstGeom prst="roundRect">
            <a:avLst>
              <a:gd name="adj" fmla="val 16000"/>
            </a:avLst>
          </a:prstGeom>
          <a:solidFill>
            <a:srgbClr val="E859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0600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3593592"/>
            <a:ext cx="457200" cy="45720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4754880" y="40873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Mango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650992" y="2532888"/>
            <a:ext cx="457200" cy="987552"/>
          </a:xfrm>
          <a:prstGeom prst="roundRect">
            <a:avLst>
              <a:gd name="adj" fmla="val 16000"/>
            </a:avLst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559552" y="22311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4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3593592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513832" y="40873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Apple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409944" y="2532888"/>
            <a:ext cx="457200" cy="987552"/>
          </a:xfrm>
          <a:prstGeom prst="roundRect">
            <a:avLst>
              <a:gd name="adj" fmla="val 16000"/>
            </a:avLst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318504" y="22311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4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3593592"/>
            <a:ext cx="457200" cy="45720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272784" y="40873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Banana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7168896" y="2532888"/>
            <a:ext cx="457200" cy="987552"/>
          </a:xfrm>
          <a:prstGeom prst="roundRect">
            <a:avLst>
              <a:gd name="adj" fmla="val 16000"/>
            </a:avLst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077456" y="22311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4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896" y="3593592"/>
            <a:ext cx="457200" cy="45720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7031736" y="40873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Durian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7927848" y="2779776"/>
            <a:ext cx="457200" cy="740664"/>
          </a:xfrm>
          <a:prstGeom prst="roundRect">
            <a:avLst>
              <a:gd name="adj" fmla="val 16000"/>
            </a:avLst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7836408" y="24780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848" y="3593592"/>
            <a:ext cx="457200" cy="45720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790688" y="40873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Grape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7772400" y="4709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ระบบแนะนำทำงานอย่างไร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28800" cy="2240280"/>
          </a:xfrm>
          <a:prstGeom prst="roundRect">
            <a:avLst>
              <a:gd name="adj" fmla="val 7000"/>
            </a:avLst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เลือกผู้ใช้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เริ่มจากผู้ใช้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ที่ต้องการคำแนะนำ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331720" y="2350008"/>
            <a:ext cx="210312" cy="0"/>
          </a:xfrm>
          <a:prstGeom prst="line">
            <a:avLst/>
          </a:prstGeom>
          <a:noFill/>
          <a:ln w="28575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87752" y="1234440"/>
            <a:ext cx="1828800" cy="2240280"/>
          </a:xfrm>
          <a:prstGeom prst="roundRect">
            <a:avLst>
              <a:gd name="adj" fmla="val 7000"/>
            </a:avLst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70632" y="141732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70632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770632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หาคนที่คล้ายกัน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70632" y="25603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เดินตามเส้น SIMILAR_TO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ไปยังผู้ใช้คนอื่น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62272" y="2350008"/>
            <a:ext cx="210312" cy="0"/>
          </a:xfrm>
          <a:prstGeom prst="line">
            <a:avLst/>
          </a:prstGeom>
          <a:noFill/>
          <a:ln w="28575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718304" y="1234440"/>
            <a:ext cx="1828800" cy="2240280"/>
          </a:xfrm>
          <a:prstGeom prst="roundRect">
            <a:avLst>
              <a:gd name="adj" fmla="val 7000"/>
            </a:avLst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01184" y="141732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01184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ดูผลไม้ที่เขาชอบ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901184" y="25603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เดินต่อตามเส้น LIKES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ไปยังผลไม้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92824" y="2350008"/>
            <a:ext cx="210312" cy="0"/>
          </a:xfrm>
          <a:prstGeom prst="line">
            <a:avLst/>
          </a:prstGeom>
          <a:noFill/>
          <a:ln w="28575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848856" y="1234440"/>
            <a:ext cx="1828800" cy="2240280"/>
          </a:xfrm>
          <a:prstGeom prst="roundRect">
            <a:avLst>
              <a:gd name="adj" fmla="val 7000"/>
            </a:avLst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31736" y="141732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31736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031736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ตัดและนับคะแนน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31736" y="25603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ตัดผลไม้ที่ชอบอยู่แล้ว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แล้วนับว่ามีกี่คนชอบ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15556"/>
            </a:avLst>
          </a:prstGeom>
          <a:solidFill>
            <a:srgbClr val="3B2A1A"/>
          </a:solidFill>
          <a:ln w="12700">
            <a:solidFill>
              <a:srgbClr val="3B2A1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2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คะแนน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=  จำนวนคนที่คล้ายกัน ที่ชอบผลไม้นั้น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0" y="4709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ตัวอย่าง: แนะนำผลไม้ให้ Ananda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3383280"/>
          </a:xfrm>
          <a:prstGeom prst="roundRect">
            <a:avLst>
              <a:gd name="adj" fmla="val 4667"/>
            </a:avLst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Ananda ชอบอยู่แล้ว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1051560" cy="1051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960120" cy="960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74520" y="1874520"/>
            <a:ext cx="1051560" cy="1051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920240"/>
            <a:ext cx="960120" cy="9601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" y="2971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Mango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920240" y="2971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Apple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มีผู้ใช้ที่คล้ายกัน 7 คน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ระบบแนะนำ 3 ชนิด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566160" y="1188720"/>
            <a:ext cx="5120640" cy="1005840"/>
          </a:xfrm>
          <a:prstGeom prst="roundRect">
            <a:avLst>
              <a:gd name="adj" fmla="val 12727"/>
            </a:avLst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703320" y="128016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325880"/>
            <a:ext cx="731520" cy="7315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09160" y="1344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Banana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709160" y="17373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Boonchit, poo และ yu ชอบ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7726680" y="1325880"/>
            <a:ext cx="731520" cy="7315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726680" y="13716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7726680" y="17190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คะแนน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3566160" y="2377440"/>
            <a:ext cx="5120640" cy="1005840"/>
          </a:xfrm>
          <a:prstGeom prst="roundRect">
            <a:avLst>
              <a:gd name="adj" fmla="val 12727"/>
            </a:avLst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703320" y="24688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2514600"/>
            <a:ext cx="731520" cy="7315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709160" y="2532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Durian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4709160" y="29260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Chutima, pond และ ya ชอบ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726680" y="2514600"/>
            <a:ext cx="731520" cy="7315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726680" y="2560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7726680" y="29077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คะแนน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3566160" y="3566160"/>
            <a:ext cx="5120640" cy="1005840"/>
          </a:xfrm>
          <a:prstGeom prst="roundRect">
            <a:avLst>
              <a:gd name="adj" fmla="val 12727"/>
            </a:avLst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703320" y="365760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3703320"/>
            <a:ext cx="731520" cy="73152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4709160" y="3721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Grape</a:t>
            </a:r>
            <a:endParaRPr lang="en-US" sz="1700" dirty="0"/>
          </a:p>
        </p:txBody>
      </p:sp>
      <p:sp>
        <p:nvSpPr>
          <p:cNvPr id="33" name="Text 26"/>
          <p:cNvSpPr txBox="1"/>
          <p:nvPr/>
        </p:nvSpPr>
        <p:spPr>
          <a:xfrm>
            <a:off x="4709160" y="41148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pat ชอบ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7726680" y="3703320"/>
            <a:ext cx="731520" cy="7315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7726680" y="37490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000" dirty="0"/>
          </a:p>
        </p:txBody>
      </p:sp>
      <p:sp>
        <p:nvSpPr>
          <p:cNvPr id="36" name="Text 29"/>
          <p:cNvSpPr txBox="1"/>
          <p:nvPr/>
        </p:nvSpPr>
        <p:spPr>
          <a:xfrm>
            <a:off x="7726680" y="40965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คะแนน</a:t>
            </a:r>
            <a:endParaRPr lang="en-US" sz="800" dirty="0"/>
          </a:p>
        </p:txBody>
      </p:sp>
      <p:sp>
        <p:nvSpPr>
          <p:cNvPr id="38" name="Text 30"/>
          <p:cNvSpPr txBox="1"/>
          <p:nvPr/>
        </p:nvSpPr>
        <p:spPr>
          <a:xfrm>
            <a:off x="7772400" y="4709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คำสั่ง Cypher ที่ใช้แนะนำ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846320" cy="3383280"/>
          </a:xfrm>
          <a:prstGeom prst="roundRect">
            <a:avLst>
              <a:gd name="adj" fmla="val 3784"/>
            </a:avLst>
          </a:prstGeom>
          <a:solidFill>
            <a:srgbClr val="3B2A1A"/>
          </a:solidFill>
          <a:ln w="12700">
            <a:solidFill>
              <a:srgbClr val="3B2A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C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(me:User {name: $name})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C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-[:SIMILAR_TO]-(similar:User)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C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-[:LIKES]-&gt;(fruit:Fruit)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8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NOT EXISTS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8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MATCH (me)-[:LIKES]-&gt;(fruit)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8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2F2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fruit.name AS fruit,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2F2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count(DISTINCT similar) AS score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2F2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score DESC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2F2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$limit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577840" y="1325880"/>
            <a:ext cx="274320" cy="274320"/>
          </a:xfrm>
          <a:prstGeom prst="ellipse">
            <a:avLst/>
          </a:prstGeom>
          <a:solidFill>
            <a:srgbClr val="FFC233"/>
          </a:solidFill>
          <a:ln w="25400">
            <a:solidFill>
              <a:srgbClr val="3B2A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89320" y="12801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MATCH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89320" y="16459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เดินจากผู้ใช้ไปหาคนที่คล้ายกัน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แล้วต่อไปยังผลไม้ที่เขาชอบ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2441448"/>
            <a:ext cx="274320" cy="274320"/>
          </a:xfrm>
          <a:prstGeom prst="ellipse">
            <a:avLst/>
          </a:prstGeom>
          <a:solidFill>
            <a:srgbClr val="FFA8C5"/>
          </a:solidFill>
          <a:ln w="25400">
            <a:solidFill>
              <a:srgbClr val="3B2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89320" y="239572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WHERE NOT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276148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ตัดผลไม้ที่ผู้ใช้ชอบอยู่แล้วออก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77840" y="3557016"/>
            <a:ext cx="274320" cy="274320"/>
          </a:xfrm>
          <a:prstGeom prst="ellipse">
            <a:avLst/>
          </a:prstGeom>
          <a:solidFill>
            <a:srgbClr val="B2F2BB"/>
          </a:solidFill>
          <a:ln w="25400">
            <a:solidFill>
              <a:srgbClr val="3B2A1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89320" y="351129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count + ORDER BY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3877056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นับคนที่คล้ายกันเป็นคะแนน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แล้วเรียงจากมากไปน้อย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0" y="4709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โครงสร้างระบบ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28800" cy="2011680"/>
          </a:xfrm>
          <a:prstGeom prst="roundRect">
            <a:avLst>
              <a:gd name="adj" fmla="val 7000"/>
            </a:avLst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417320"/>
            <a:ext cx="640080" cy="64008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382" y="159014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1762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523744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เปิดเว็บ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ผ่านเบราว์เซอร์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331720" y="2240280"/>
            <a:ext cx="210312" cy="0"/>
          </a:xfrm>
          <a:prstGeom prst="line">
            <a:avLst/>
          </a:prstGeom>
          <a:noFill/>
          <a:ln w="25400">
            <a:solidFill>
              <a:srgbClr val="3B2A1A"/>
            </a:solidFill>
            <a:prstDash val="solid"/>
            <a:headEnd type="triangl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587752" y="1234440"/>
            <a:ext cx="1828800" cy="2011680"/>
          </a:xfrm>
          <a:prstGeom prst="roundRect">
            <a:avLst>
              <a:gd name="adj" fmla="val 7000"/>
            </a:avLst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82112" y="1417320"/>
            <a:ext cx="640080" cy="64008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934" y="1590142"/>
            <a:ext cx="294437" cy="29443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79192" y="21762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724912" y="2523744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app.py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แสดงหน้าจอและเมนู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462272" y="2240280"/>
            <a:ext cx="210312" cy="0"/>
          </a:xfrm>
          <a:prstGeom prst="line">
            <a:avLst/>
          </a:prstGeom>
          <a:noFill/>
          <a:ln w="25400">
            <a:solidFill>
              <a:srgbClr val="3B2A1A"/>
            </a:solidFill>
            <a:prstDash val="solid"/>
            <a:headEnd type="triangle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718304" y="1234440"/>
            <a:ext cx="1828800" cy="2011680"/>
          </a:xfrm>
          <a:prstGeom prst="roundRect">
            <a:avLst>
              <a:gd name="adj" fmla="val 7000"/>
            </a:avLst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312664" y="1417320"/>
            <a:ext cx="640080" cy="640080"/>
          </a:xfrm>
          <a:prstGeom prst="ellipse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5486" y="1590142"/>
            <a:ext cx="294437" cy="29443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09744" y="21762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ชั้นบริการ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4855464" y="2523744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neo4j_service.py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รวมคำสั่ง Cypher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592824" y="2240280"/>
            <a:ext cx="210312" cy="0"/>
          </a:xfrm>
          <a:prstGeom prst="line">
            <a:avLst/>
          </a:prstGeom>
          <a:noFill/>
          <a:ln w="25400">
            <a:solidFill>
              <a:srgbClr val="3B2A1A"/>
            </a:solidFill>
            <a:prstDash val="solid"/>
            <a:headEnd type="triangle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6848856" y="1234440"/>
            <a:ext cx="1828800" cy="2011680"/>
          </a:xfrm>
          <a:prstGeom prst="roundRect">
            <a:avLst>
              <a:gd name="adj" fmla="val 7000"/>
            </a:avLst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43216" y="1417320"/>
            <a:ext cx="640080" cy="640080"/>
          </a:xfrm>
          <a:prstGeom prst="ellipse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038" y="1590142"/>
            <a:ext cx="294437" cy="29443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40296" y="21762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Neo4j Aura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6986016" y="2523744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ฐานข้อมูลกราฟ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บนคลาวด์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57200" y="3611880"/>
            <a:ext cx="548640" cy="548640"/>
          </a:xfrm>
          <a:prstGeom prst="ellipse">
            <a:avLst/>
          </a:prstGeom>
          <a:solidFill>
            <a:srgbClr val="3B2A1A"/>
          </a:solidFill>
          <a:ln w="12700">
            <a:solidFill>
              <a:srgbClr val="3B2A1A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33" y="3760013"/>
            <a:ext cx="252374" cy="25237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170432" y="356616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นำขึ้นใช้งานจริง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1170432" y="38953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push โค้ดขึ้น GitHub แล้ว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Streamlit Community Cloud ดึงไปรันให้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4718304" y="3611880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6437" y="3760013"/>
            <a:ext cx="252374" cy="25237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431536" y="356616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รหัสผ่านปลอดภัย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5431536" y="38953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รหัสผ่านฐานข้อมูลเก็บใน Streamlit Secrets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ไม่อยู่ในโค้ด</a:t>
            </a:r>
            <a:endParaRPr lang="en-US" sz="1150" dirty="0"/>
          </a:p>
        </p:txBody>
      </p:sp>
      <p:sp>
        <p:nvSpPr>
          <p:cNvPr id="35" name="Text 26"/>
          <p:cNvSpPr txBox="1"/>
          <p:nvPr/>
        </p:nvSpPr>
        <p:spPr>
          <a:xfrm>
            <a:off x="7772400" y="4709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หน้าจอของระบบ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1554480"/>
          </a:xfrm>
          <a:prstGeom prst="roundRect">
            <a:avLst>
              <a:gd name="adj" fmla="val 8235"/>
            </a:avLst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1495044"/>
            <a:ext cx="210312" cy="2103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212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จำนวนข้อมูล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และความนิยมของผลไม้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560320" y="1188720"/>
            <a:ext cx="1920240" cy="1554480"/>
          </a:xfrm>
          <a:prstGeom prst="roundRect">
            <a:avLst>
              <a:gd name="adj" fmla="val 8235"/>
            </a:avLst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0" y="1371600"/>
            <a:ext cx="457200" cy="4572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644" y="1495044"/>
            <a:ext cx="210312" cy="2103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4320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แนะนำผลไม้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743200" y="2212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ผลไม้ที่แนะนำ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พร้อมคะแนนและเหตุผล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663440" y="1188720"/>
            <a:ext cx="1920240" cy="1554480"/>
          </a:xfrm>
          <a:prstGeom prst="roundRect">
            <a:avLst>
              <a:gd name="adj" fmla="val 8235"/>
            </a:avLst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764" y="1495044"/>
            <a:ext cx="210312" cy="2103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4632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846320" y="2212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 เปลี่ยนชื่อ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และลบผู้ใช้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766560" y="1188720"/>
            <a:ext cx="1920240" cy="1554480"/>
          </a:xfrm>
          <a:prstGeom prst="roundRect">
            <a:avLst>
              <a:gd name="adj" fmla="val 8235"/>
            </a:avLst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949440" y="1371600"/>
            <a:ext cx="457200" cy="4572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2884" y="1495044"/>
            <a:ext cx="210312" cy="2103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4944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ผลไม้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949440" y="2212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 แก้ไข ลบ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และอัปโหลดรูป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57200" y="2926080"/>
            <a:ext cx="1920240" cy="1554480"/>
          </a:xfrm>
          <a:prstGeom prst="roundRect">
            <a:avLst>
              <a:gd name="adj" fmla="val 8235"/>
            </a:avLst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" y="3232404"/>
            <a:ext cx="210312" cy="21031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40080" y="3657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ความสัมพันธ์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39502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 LIKES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และ SIMILAR_TO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2560320" y="2926080"/>
            <a:ext cx="1920240" cy="1554480"/>
          </a:xfrm>
          <a:prstGeom prst="roundRect">
            <a:avLst>
              <a:gd name="adj" fmla="val 8235"/>
            </a:avLst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2743200" y="3108960"/>
            <a:ext cx="457200" cy="4572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6644" y="3232404"/>
            <a:ext cx="210312" cy="21031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743200" y="3657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กราฟความสัมพันธ์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2743200" y="39502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ดูกราฟรอบผู้ใช้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ระยะ 1–3 ทอด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4663440" y="2926080"/>
            <a:ext cx="1920240" cy="1554480"/>
          </a:xfrm>
          <a:prstGeom prst="roundRect">
            <a:avLst>
              <a:gd name="adj" fmla="val 8235"/>
            </a:avLst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846320" y="3108960"/>
            <a:ext cx="457200" cy="4572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9764" y="3232404"/>
            <a:ext cx="210312" cy="210312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846320" y="3657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ตั้งค่าข้อมูล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4846320" y="39502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สร้างข้อมูลตัวอย่าง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หรือล้างข้อมูล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6766560" y="2926080"/>
            <a:ext cx="1920240" cy="1554480"/>
          </a:xfrm>
          <a:prstGeom prst="roundRect">
            <a:avLst>
              <a:gd name="adj" fmla="val 8235"/>
            </a:avLst>
          </a:prstGeom>
          <a:solidFill>
            <a:srgbClr val="3B2A1A"/>
          </a:solidFill>
          <a:ln w="12700">
            <a:solidFill>
              <a:srgbClr val="3B2A1A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6949440" y="3108960"/>
            <a:ext cx="457200" cy="457200"/>
          </a:xfrm>
          <a:prstGeom prst="ellipse">
            <a:avLst/>
          </a:prstGeom>
          <a:solidFill>
            <a:srgbClr val="FFC233"/>
          </a:solidFill>
          <a:ln w="12700">
            <a:solidFill>
              <a:srgbClr val="FFC233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2884" y="3232404"/>
            <a:ext cx="210312" cy="210312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949440" y="3657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</a:t>
            </a:r>
            <a:endParaRPr lang="en-US" sz="1300" dirty="0"/>
          </a:p>
        </p:txBody>
      </p:sp>
      <p:sp>
        <p:nvSpPr>
          <p:cNvPr id="42" name="Text 32"/>
          <p:cNvSpPr txBox="1"/>
          <p:nvPr/>
        </p:nvSpPr>
        <p:spPr>
          <a:xfrm>
            <a:off x="6949440" y="39502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D8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รวมการบ้านงานที่ 1–3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D8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เปิดดูในแอปได้</a:t>
            </a:r>
            <a:endParaRPr lang="en-US" sz="1050" dirty="0"/>
          </a:p>
        </p:txBody>
      </p:sp>
      <p:sp>
        <p:nvSpPr>
          <p:cNvPr id="44" name="Text 33"/>
          <p:cNvSpPr txBox="1"/>
          <p:nvPr/>
        </p:nvSpPr>
        <p:spPr>
          <a:xfrm>
            <a:off x="7772400" y="4709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 ลบ แก้ไขข้อมูลได้ทุกส่วน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2377440"/>
                <a:gridCol w="201168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ข้อมูล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เพิ่ม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แก้ไข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90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2A1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ผู้ใช้ (User)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CREATE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SET เปลี่ยนชื่อ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DETACH DELETE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2A1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ผลไม้ (Fruit)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CREATE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SET ชื่อและรูป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DETACH DELETE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2A1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LIKES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MERGE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เลือกใหม่แล้วบันทึก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DELETE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2A1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SIMILAR_TO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MERGE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คำนวณใหม่จาก LIKES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DELETE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023360"/>
            <a:ext cx="548640" cy="54864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3" y="4171493"/>
            <a:ext cx="252374" cy="25237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70432" y="4023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ลบผู้ใช้หรือผลไม้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เส้นความสัมพันธ์ที่ติดอยู่จะถูกลบไปด้วย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4718304" y="4023360"/>
            <a:ext cx="548640" cy="548640"/>
          </a:xfrm>
          <a:prstGeom prst="ellipse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437" y="4171493"/>
            <a:ext cx="252374" cy="25237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31536" y="4023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เปลี่ยนชื่อแล้ว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เส้นความสัมพันธ์เดิมยังอยู่ครบ</a:t>
            </a:r>
            <a:endParaRPr lang="en-US" sz="1250" dirty="0"/>
          </a:p>
        </p:txBody>
      </p:sp>
      <p:sp>
        <p:nvSpPr>
          <p:cNvPr id="11" name="Text 5"/>
          <p:cNvSpPr txBox="1"/>
          <p:nvPr/>
        </p:nvSpPr>
        <p:spPr>
          <a:xfrm>
            <a:off x="7772400" y="4709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988" y="1415948"/>
            <a:ext cx="231343" cy="23134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234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เก็บความชอบเป็นกราฟ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5453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D8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หาคนที่ชอบคล้ายกันได้ด้วยการเดินตามเส้น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214884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88" y="2284628"/>
            <a:ext cx="231343" cy="23134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1031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คำแนะนำอธิบายได้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24140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D8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บอกได้ว่าใครบ้างที่ชอบผลไม้นั้น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301752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88" y="3153308"/>
            <a:ext cx="231343" cy="23134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29718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จัดการข้อมูลได้ครบผ่านหน้าเว็บ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32826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D8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และเปิดใช้งานออนไลน์ได้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0" y="1188720"/>
            <a:ext cx="3200400" cy="2194560"/>
          </a:xfrm>
          <a:prstGeom prst="roundRect">
            <a:avLst>
              <a:gd name="adj" fmla="val 5833"/>
            </a:avLst>
          </a:prstGeom>
          <a:solidFill>
            <a:srgbClr val="54402C"/>
          </a:solidFill>
          <a:ln w="12700">
            <a:solidFill>
              <a:srgbClr val="54402C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71500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C2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ต่อยอดได้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733288" y="1975104"/>
            <a:ext cx="118872" cy="118872"/>
          </a:xfrm>
          <a:prstGeom prst="ellipse">
            <a:avLst/>
          </a:prstGeom>
          <a:solidFill>
            <a:srgbClr val="FFC233"/>
          </a:solidFill>
          <a:ln w="12700">
            <a:solidFill>
              <a:srgbClr val="FFC23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98932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ให้คะแนนความชอบ (rating)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733288" y="2432304"/>
            <a:ext cx="118872" cy="118872"/>
          </a:xfrm>
          <a:prstGeom prst="ellipse">
            <a:avLst/>
          </a:prstGeom>
          <a:solidFill>
            <a:srgbClr val="FFC233"/>
          </a:solidFill>
          <a:ln w="12700">
            <a:solidFill>
              <a:srgbClr val="FFC233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98932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วัดความคล้ายด้วย Jaccard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733288" y="2889504"/>
            <a:ext cx="118872" cy="118872"/>
          </a:xfrm>
          <a:prstGeom prst="ellipse">
            <a:avLst/>
          </a:prstGeom>
          <a:solidFill>
            <a:srgbClr val="FFC233"/>
          </a:solidFill>
          <a:ln w="12700">
            <a:solidFill>
              <a:srgbClr val="FFC233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989320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 Login ของผู้ใช้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8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github.com/pungpisduangdaw01-arch/664245004pj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437083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B8A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รูปผลไม้จาก Wikimedia Commons: Ivar Leidus, Abhijit Tembhekar, Manfi, Augustus Binu, Dragonflyir hassanahmadi (CC BY / CC BY-SA)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7772400" y="4709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FD8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ระบบแนะนำผลไม้ด้วย Graph Database</dc:title>
  <dc:subject>PptxGenJS Presentation</dc:subject>
  <dc:creator>ชิษณุพงศ์ เกตุพูนทอง</dc:creator>
  <cp:lastModifiedBy>ชิษณุพงศ์ เกตุพูนทอง</cp:lastModifiedBy>
  <cp:revision>1</cp:revision>
  <dcterms:created xsi:type="dcterms:W3CDTF">2026-10-01T19:32:49Z</dcterms:created>
  <dcterms:modified xsi:type="dcterms:W3CDTF">2026-10-01T19:32:49Z</dcterms:modified>
</cp:coreProperties>
</file>